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332" autoAdjust="0"/>
  </p:normalViewPr>
  <p:slideViewPr>
    <p:cSldViewPr snapToGrid="0">
      <p:cViewPr varScale="1">
        <p:scale>
          <a:sx n="150" d="100"/>
          <a:sy n="150" d="100"/>
        </p:scale>
        <p:origin x="33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4AA6D-2E78-4A9A-9557-17034916A86F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70EDB-3784-47BE-A0FF-3AC360D69F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991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N= </a:t>
            </a:r>
          </a:p>
          <a:p>
            <a:r>
              <a:rPr lang="es-MX" dirty="0"/>
              <a:t>Participación Escolar: Pregunta 12 en cuestionario alumnos.</a:t>
            </a:r>
          </a:p>
          <a:p>
            <a:r>
              <a:rPr lang="es-MX" dirty="0"/>
              <a:t>Apoyo Maestros: Pregunta 33 en cuestionario alumnos.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70EDB-3784-47BE-A0FF-3AC360D69FA6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6247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Docente dicta: p47 cuestionario docentes.</a:t>
            </a:r>
          </a:p>
          <a:p>
            <a:r>
              <a:rPr lang="es-MX" dirty="0" err="1"/>
              <a:t>Warning</a:t>
            </a:r>
            <a:r>
              <a:rPr lang="es-MX" dirty="0"/>
              <a:t>. 33,000 </a:t>
            </a:r>
            <a:r>
              <a:rPr lang="es-MX" dirty="0" err="1"/>
              <a:t>obs</a:t>
            </a:r>
            <a:r>
              <a:rPr lang="es-MX" dirty="0"/>
              <a:t>, únicamente!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70EDB-3784-47BE-A0FF-3AC360D69FA6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1966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Controles 427</a:t>
            </a:r>
          </a:p>
          <a:p>
            <a:r>
              <a:rPr lang="es-MX" dirty="0"/>
              <a:t>N casi 900,000. Usa 179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70EDB-3784-47BE-A0FF-3AC360D69FA6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1870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R38_2 no utiliza plataforma visuales.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70EDB-3784-47BE-A0FF-3AC360D69FA6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503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134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591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347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40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153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5551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171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025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99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220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497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81541-AD4D-4773-81CB-F294F4C099DD}" type="datetimeFigureOut">
              <a:rPr lang="es-MX" smtClean="0"/>
              <a:t>04/11/2025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7ABF6-F60B-44BB-BF3A-D2B5F9307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151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190740918309721?casa_token=N70sRCEMaMUAAAAA:RsMIMdwoa1pmszkQIMdkabzLhSwEkb2ICsvzkltsioybw1WaQ6J7HlE6HJiQljZWODhhMooJG2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francisco.cabrera@udem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2896-1826-40AC-964E-173735FE9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192" y="233054"/>
            <a:ext cx="9436729" cy="2387600"/>
          </a:xfrm>
        </p:spPr>
        <p:txBody>
          <a:bodyPr>
            <a:normAutofit/>
          </a:bodyPr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Uso de </a:t>
            </a:r>
            <a:r>
              <a:rPr lang="es-MX" sz="5400" i="1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Machine Learning </a:t>
            </a:r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para identificar variables predictoras de logro.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5D07A-73CA-462D-92A2-AE9AB2C35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851" y="3140311"/>
            <a:ext cx="10385659" cy="2760262"/>
          </a:xfrm>
        </p:spPr>
        <p:txBody>
          <a:bodyPr>
            <a:normAutofit fontScale="92500" lnSpcReduction="20000"/>
          </a:bodyPr>
          <a:lstStyle/>
          <a:p>
            <a:br>
              <a:rPr lang="es-MX" b="1" dirty="0"/>
            </a:br>
            <a:r>
              <a:rPr lang="es-MX" b="1" dirty="0"/>
              <a:t>Dr. Francisco Cabrera-Hernández</a:t>
            </a:r>
          </a:p>
          <a:p>
            <a:r>
              <a:rPr lang="es-MX" i="1" dirty="0">
                <a:latin typeface="Aparajita" panose="02020603050405020304" pitchFamily="18" charset="0"/>
                <a:cs typeface="Aparajita" panose="02020603050405020304" pitchFamily="18" charset="0"/>
              </a:rPr>
              <a:t>Profesor - Investigador</a:t>
            </a:r>
          </a:p>
          <a:p>
            <a:r>
              <a:rPr lang="es-MX" dirty="0">
                <a:latin typeface="Aparajita" panose="02020603050405020304" pitchFamily="18" charset="0"/>
                <a:cs typeface="Aparajita" panose="02020603050405020304" pitchFamily="18" charset="0"/>
              </a:rPr>
              <a:t>UDEM Business School, Monterrey.</a:t>
            </a:r>
            <a:br>
              <a:rPr lang="es-MX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s-MX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s-MX" i="1" dirty="0" err="1">
                <a:latin typeface="Aparajita" panose="02020603050405020304" pitchFamily="18" charset="0"/>
                <a:cs typeface="Aparajita" panose="02020603050405020304" pitchFamily="18" charset="0"/>
              </a:rPr>
              <a:t>Research</a:t>
            </a:r>
            <a:r>
              <a:rPr lang="es-MX" i="1" dirty="0"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s-MX" i="1" dirty="0" err="1">
                <a:latin typeface="Aparajita" panose="02020603050405020304" pitchFamily="18" charset="0"/>
                <a:cs typeface="Aparajita" panose="02020603050405020304" pitchFamily="18" charset="0"/>
              </a:rPr>
              <a:t>Fellow</a:t>
            </a:r>
            <a:r>
              <a:rPr lang="es-MX" i="1" dirty="0"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</a:p>
          <a:p>
            <a:r>
              <a:rPr lang="es-MX" dirty="0">
                <a:latin typeface="Aparajita" panose="02020603050405020304" pitchFamily="18" charset="0"/>
                <a:cs typeface="Aparajita" panose="02020603050405020304" pitchFamily="18" charset="0"/>
              </a:rPr>
              <a:t>Center </a:t>
            </a:r>
            <a:r>
              <a:rPr lang="es-MX" dirty="0" err="1">
                <a:latin typeface="Aparajita" panose="02020603050405020304" pitchFamily="18" charset="0"/>
                <a:cs typeface="Aparajita" panose="02020603050405020304" pitchFamily="18" charset="0"/>
              </a:rPr>
              <a:t>for</a:t>
            </a:r>
            <a:r>
              <a:rPr lang="es-MX" dirty="0">
                <a:latin typeface="Aparajita" panose="02020603050405020304" pitchFamily="18" charset="0"/>
                <a:cs typeface="Aparajita" panose="02020603050405020304" pitchFamily="18" charset="0"/>
              </a:rPr>
              <a:t> Institutional Studies,</a:t>
            </a:r>
          </a:p>
          <a:p>
            <a:r>
              <a:rPr lang="es-MX" dirty="0" err="1">
                <a:latin typeface="Aparajita" panose="02020603050405020304" pitchFamily="18" charset="0"/>
                <a:cs typeface="Aparajita" panose="02020603050405020304" pitchFamily="18" charset="0"/>
              </a:rPr>
              <a:t>Higher</a:t>
            </a:r>
            <a:r>
              <a:rPr lang="es-MX" dirty="0">
                <a:latin typeface="Aparajita" panose="02020603050405020304" pitchFamily="18" charset="0"/>
                <a:cs typeface="Aparajita" panose="02020603050405020304" pitchFamily="18" charset="0"/>
              </a:rPr>
              <a:t> School </a:t>
            </a:r>
            <a:r>
              <a:rPr lang="es-MX" dirty="0" err="1">
                <a:latin typeface="Aparajita" panose="02020603050405020304" pitchFamily="18" charset="0"/>
                <a:cs typeface="Aparajita" panose="02020603050405020304" pitchFamily="18" charset="0"/>
              </a:rPr>
              <a:t>of</a:t>
            </a:r>
            <a:r>
              <a:rPr lang="es-MX" dirty="0"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s-MX" dirty="0" err="1">
                <a:latin typeface="Aparajita" panose="02020603050405020304" pitchFamily="18" charset="0"/>
                <a:cs typeface="Aparajita" panose="02020603050405020304" pitchFamily="18" charset="0"/>
              </a:rPr>
              <a:t>Economics</a:t>
            </a:r>
            <a:r>
              <a:rPr lang="es-MX" dirty="0">
                <a:latin typeface="Aparajita" panose="02020603050405020304" pitchFamily="18" charset="0"/>
                <a:cs typeface="Aparajita" panose="02020603050405020304" pitchFamily="18" charset="0"/>
              </a:rPr>
              <a:t>, Moscú.</a:t>
            </a:r>
          </a:p>
        </p:txBody>
      </p:sp>
      <p:pic>
        <p:nvPicPr>
          <p:cNvPr id="1026" name="Picture 2" descr="UDEM Logo - University of Monterrey Download Vector">
            <a:extLst>
              <a:ext uri="{FF2B5EF4-FFF2-40B4-BE49-F238E27FC236}">
                <a16:creationId xmlns:a16="http://schemas.microsoft.com/office/drawing/2014/main" id="{BC8E77F2-342F-410C-8631-7692952AC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593" y="3793788"/>
            <a:ext cx="2941992" cy="294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26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B6A2-670A-4423-A9C4-F7D8A8AF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Introducción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C7738-D08A-4605-B65C-08103652C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Contamos con una gran cantidad de datos muy útiles provisto por las pruebas PLANEA y ENLACE. </a:t>
            </a:r>
          </a:p>
          <a:p>
            <a:r>
              <a:rPr lang="es-MX" dirty="0"/>
              <a:t>Existe una riqueza particularmente útil en los cuestionarios individuales de contexto: docentes, alumnos y directores.</a:t>
            </a:r>
          </a:p>
          <a:p>
            <a:r>
              <a:rPr lang="es-MX" dirty="0"/>
              <a:t>Sin embargo, estadísticamente, estos datos se han explotado poco y existe una gran dimensionalidad.</a:t>
            </a:r>
          </a:p>
          <a:p>
            <a:r>
              <a:rPr lang="es-MX" dirty="0"/>
              <a:t>En esta presentación introduzco los resultados tras usar distintos algoritmos de </a:t>
            </a:r>
            <a:r>
              <a:rPr lang="es-MX" i="1" dirty="0"/>
              <a:t>Machine Learning (ML)</a:t>
            </a:r>
          </a:p>
        </p:txBody>
      </p:sp>
    </p:spTree>
    <p:extLst>
      <p:ext uri="{BB962C8B-B14F-4D97-AF65-F5344CB8AC3E}">
        <p14:creationId xmlns:p14="http://schemas.microsoft.com/office/powerpoint/2010/main" val="136106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1B12-2A18-43B9-A177-58330DBE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Introducción</a:t>
            </a:r>
            <a:endParaRPr lang="es-MX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0D223-A2C9-4A08-9041-DE885556D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La modelación predictiva incluye distintas técnicas para datos panel, cohortes, o series de tiempo que permiten hacer predicciones basadas en patrones observados en grandes cantidades de datos:</a:t>
            </a:r>
          </a:p>
          <a:p>
            <a:pPr marL="0" indent="0">
              <a:buNone/>
            </a:pPr>
            <a:endParaRPr lang="es-MX" dirty="0"/>
          </a:p>
          <a:p>
            <a:pPr lvl="1"/>
            <a:r>
              <a:rPr lang="es-MX" sz="2600" dirty="0" err="1"/>
              <a:t>Random</a:t>
            </a:r>
            <a:r>
              <a:rPr lang="es-MX" sz="2600" dirty="0"/>
              <a:t> Forest, </a:t>
            </a:r>
            <a:r>
              <a:rPr lang="es-MX" sz="2600" dirty="0" err="1"/>
              <a:t>Naive</a:t>
            </a:r>
            <a:r>
              <a:rPr lang="es-MX" sz="2600" dirty="0"/>
              <a:t> Bayes, Regresión Logística, </a:t>
            </a:r>
            <a:r>
              <a:rPr lang="es-MX" sz="2600" dirty="0" err="1"/>
              <a:t>VARs</a:t>
            </a:r>
            <a:r>
              <a:rPr lang="es-MX" sz="2600" dirty="0"/>
              <a:t>: LASSO, RIDGE </a:t>
            </a:r>
            <a:r>
              <a:rPr lang="es-MX" sz="2600" dirty="0" err="1"/>
              <a:t>Regression</a:t>
            </a:r>
            <a:r>
              <a:rPr lang="es-MX" sz="2600" dirty="0"/>
              <a:t> y </a:t>
            </a:r>
            <a:r>
              <a:rPr lang="es-MX" sz="2600" dirty="0" err="1"/>
              <a:t>Elastic</a:t>
            </a:r>
            <a:r>
              <a:rPr lang="es-MX" sz="2600" dirty="0"/>
              <a:t> Networks, entre otras.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Identificar estos patrones permite reducir la alta dimensionalidad de variables predictoras y sugerir “subgrupos” de variables que más influyen en un resultado.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250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8F0C-FDB8-437D-ABBB-D9964363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347D-EE51-48D6-9B7D-D7E20FB67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Ayuda a responder preguntas del tipo:</a:t>
            </a:r>
          </a:p>
          <a:p>
            <a:endParaRPr lang="es-MX" sz="3200" dirty="0"/>
          </a:p>
          <a:p>
            <a:pPr marL="0" indent="0" algn="ctr">
              <a:buNone/>
            </a:pPr>
            <a:r>
              <a:rPr lang="es-MX" sz="2800" dirty="0">
                <a:hlinkClick r:id="rId2"/>
              </a:rPr>
              <a:t>¿Qué variables de la escuela predicen en mayor medida el que un estudiante deserte en media superior?</a:t>
            </a:r>
            <a:r>
              <a:rPr lang="es-MX" sz="2800" dirty="0"/>
              <a:t> (Young-Chung and Lee, 2019)</a:t>
            </a:r>
          </a:p>
          <a:p>
            <a:pPr marL="0" indent="0">
              <a:buNone/>
            </a:pPr>
            <a:endParaRPr lang="es-MX" sz="3200" dirty="0"/>
          </a:p>
          <a:p>
            <a:r>
              <a:rPr lang="es-MX" sz="3200" dirty="0"/>
              <a:t>Identificar las variables más influyentes permiten enfocar esfuerzos en mejorar/desaparecer </a:t>
            </a:r>
            <a:r>
              <a:rPr lang="es-MX" sz="3200" u="sng" dirty="0"/>
              <a:t>a nivel escuela</a:t>
            </a:r>
            <a:r>
              <a:rPr lang="es-MX" sz="3200" dirty="0"/>
              <a:t>, prácticas que reducen/aumentan riesgos.</a:t>
            </a:r>
          </a:p>
          <a:p>
            <a:endParaRPr lang="es-MX" sz="3200" dirty="0"/>
          </a:p>
          <a:p>
            <a:endParaRPr lang="es-MX" sz="5400" dirty="0">
              <a:solidFill>
                <a:schemeClr val="accent6">
                  <a:lumMod val="75000"/>
                </a:schemeClr>
              </a:solidFill>
              <a:latin typeface="Angsana New" panose="02020603050405020304" pitchFamily="18" charset="-34"/>
              <a:ea typeface="+mj-ea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0448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FEDF-6D96-47C4-813A-306904FE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CF77-358A-4D1D-BF52-43193376F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sz="3600" dirty="0"/>
              <a:t>Puntajes Matemáticas y Lenguaje ENLACE 2010-2013 / PLANEA 2015 / 2018.</a:t>
            </a:r>
          </a:p>
          <a:p>
            <a:r>
              <a:rPr lang="es-MX" sz="3600" dirty="0"/>
              <a:t>Cuestionarios a padres, maestros y alumnos de ENLACE 2010 – 2013: 3º a 6º de primaria.</a:t>
            </a:r>
          </a:p>
          <a:p>
            <a:r>
              <a:rPr lang="es-MX" sz="3600" dirty="0"/>
              <a:t>Cuestionarios alumnos y profesores 2016 / 2018 en 6º de primaria. </a:t>
            </a:r>
          </a:p>
          <a:p>
            <a:r>
              <a:rPr lang="es-MX" sz="3600" dirty="0"/>
              <a:t>Un total de 704 variables en ENLACE y 342 variables principalmente categóricas en PLANEA.</a:t>
            </a:r>
          </a:p>
          <a:p>
            <a:endParaRPr lang="es-MX" sz="3600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38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50ED-3BB4-439C-9868-5A285A69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Metodología I</a:t>
            </a:r>
            <a:endParaRPr lang="es-MX" sz="5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CDC7B-D153-4BBA-924B-DB7EDBBD1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3200" dirty="0"/>
              <a:t>Para reducir dimensionalidad en las variables poco dependientes de política educativa se computan 21 índices mediante Análisis de Componentes Principales (PCA): </a:t>
            </a:r>
          </a:p>
          <a:p>
            <a:pPr marL="0" indent="0">
              <a:buNone/>
            </a:pPr>
            <a:endParaRPr lang="es-MX" sz="3200" dirty="0"/>
          </a:p>
          <a:p>
            <a:pPr lvl="1"/>
            <a:r>
              <a:rPr lang="es-MX" sz="2800" dirty="0"/>
              <a:t>21 índices: SES, salud, participación escolar; motivación; lectura; apoyo parental, docente y social; violencia dentro y fuera del hogar; materiales educativos; hábitos de estudio; seguridad; infraestructura.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022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1D2D-4EF7-420D-BF74-14430C0E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Índices PCA: Apoyo parental por educación del padre.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259D-59C1-4B9E-A64F-A18CD7B5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59" y="1515591"/>
            <a:ext cx="10643681" cy="4486275"/>
          </a:xfrm>
        </p:spPr>
        <p:txBody>
          <a:bodyPr/>
          <a:lstStyle/>
          <a:p>
            <a:r>
              <a:rPr lang="es-MX" dirty="0"/>
              <a:t>Estandarizados entre -1 y 1 con media de cero. </a:t>
            </a:r>
          </a:p>
          <a:p>
            <a:r>
              <a:rPr lang="es-MX" dirty="0"/>
              <a:t>-1 indica, por ejemplo, el menor apoyo parental y 1 el máximo apoyo parental.</a:t>
            </a: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95E453-7156-4456-AB46-3AF0D987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609" y="2714694"/>
            <a:ext cx="5027676" cy="366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5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DE1F-0714-48A0-B1C4-CC86850D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Índices PCA: Apoyo parental por nivel de marginación.</a:t>
            </a:r>
            <a:endParaRPr lang="es-MX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CF3181-D856-4E35-A735-FAC51560C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132035"/>
              </p:ext>
            </p:extLst>
          </p:nvPr>
        </p:nvGraphicFramePr>
        <p:xfrm>
          <a:off x="1382949" y="1947134"/>
          <a:ext cx="9181290" cy="371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5658">
                  <a:extLst>
                    <a:ext uri="{9D8B030D-6E8A-4147-A177-3AD203B41FA5}">
                      <a16:colId xmlns:a16="http://schemas.microsoft.com/office/drawing/2014/main" val="2195665814"/>
                    </a:ext>
                  </a:extLst>
                </a:gridCol>
                <a:gridCol w="1385508">
                  <a:extLst>
                    <a:ext uri="{9D8B030D-6E8A-4147-A177-3AD203B41FA5}">
                      <a16:colId xmlns:a16="http://schemas.microsoft.com/office/drawing/2014/main" val="1828089169"/>
                    </a:ext>
                  </a:extLst>
                </a:gridCol>
                <a:gridCol w="1385508">
                  <a:extLst>
                    <a:ext uri="{9D8B030D-6E8A-4147-A177-3AD203B41FA5}">
                      <a16:colId xmlns:a16="http://schemas.microsoft.com/office/drawing/2014/main" val="780903917"/>
                    </a:ext>
                  </a:extLst>
                </a:gridCol>
                <a:gridCol w="1791920">
                  <a:extLst>
                    <a:ext uri="{9D8B030D-6E8A-4147-A177-3AD203B41FA5}">
                      <a16:colId xmlns:a16="http://schemas.microsoft.com/office/drawing/2014/main" val="3182322807"/>
                    </a:ext>
                  </a:extLst>
                </a:gridCol>
                <a:gridCol w="1607188">
                  <a:extLst>
                    <a:ext uri="{9D8B030D-6E8A-4147-A177-3AD203B41FA5}">
                      <a16:colId xmlns:a16="http://schemas.microsoft.com/office/drawing/2014/main" val="3728079173"/>
                    </a:ext>
                  </a:extLst>
                </a:gridCol>
                <a:gridCol w="1385508">
                  <a:extLst>
                    <a:ext uri="{9D8B030D-6E8A-4147-A177-3AD203B41FA5}">
                      <a16:colId xmlns:a16="http://schemas.microsoft.com/office/drawing/2014/main" val="3630922178"/>
                    </a:ext>
                  </a:extLst>
                </a:gridCol>
              </a:tblGrid>
              <a:tr h="464296">
                <a:tc>
                  <a:txBody>
                    <a:bodyPr/>
                    <a:lstStyle/>
                    <a:p>
                      <a:pPr algn="l" fontAlgn="b"/>
                      <a:endParaRPr lang="es-MX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s-MX" sz="2000" b="1" u="none" strike="noStrike" dirty="0">
                          <a:effectLst/>
                        </a:rPr>
                        <a:t>Padres o tutores apoyan realización de tareas (P.21 Alumnos)</a:t>
                      </a:r>
                      <a:endParaRPr lang="es-MX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868694"/>
                  </a:ext>
                </a:extLst>
              </a:tr>
              <a:tr h="464296">
                <a:tc>
                  <a:txBody>
                    <a:bodyPr/>
                    <a:lstStyle/>
                    <a:p>
                      <a:pPr algn="l" fontAlgn="b"/>
                      <a:endParaRPr lang="es-MX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2000" b="0" i="1" u="none" strike="noStrike" dirty="0">
                          <a:effectLst/>
                        </a:rPr>
                        <a:t>Nunca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2000" b="0" i="1" u="none" strike="noStrike" dirty="0">
                          <a:effectLst/>
                        </a:rPr>
                        <a:t>Casi Nunca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2000" b="0" i="1" u="none" strike="noStrike" dirty="0">
                          <a:effectLst/>
                        </a:rPr>
                        <a:t>Algunas Veces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2000" b="0" i="1" u="none" strike="noStrike" dirty="0">
                          <a:effectLst/>
                        </a:rPr>
                        <a:t>Casi Siempre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2000" b="0" i="1" u="none" strike="noStrike" dirty="0">
                          <a:effectLst/>
                        </a:rPr>
                        <a:t>Siempre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1896916"/>
                  </a:ext>
                </a:extLst>
              </a:tr>
              <a:tr h="464296">
                <a:tc>
                  <a:txBody>
                    <a:bodyPr/>
                    <a:lstStyle/>
                    <a:p>
                      <a:pPr algn="ctr" fontAlgn="b"/>
                      <a:r>
                        <a:rPr lang="es-MX" sz="2000" b="1" u="none" strike="noStrike" dirty="0">
                          <a:effectLst/>
                        </a:rPr>
                        <a:t>Marginación</a:t>
                      </a:r>
                      <a:endParaRPr lang="es-MX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9709307"/>
                  </a:ext>
                </a:extLst>
              </a:tr>
              <a:tr h="464296">
                <a:tc>
                  <a:txBody>
                    <a:bodyPr/>
                    <a:lstStyle/>
                    <a:p>
                      <a:pPr algn="l" fontAlgn="b"/>
                      <a:r>
                        <a:rPr lang="es-MX" sz="2000" b="0" i="1" u="none" strike="noStrike" dirty="0">
                          <a:effectLst/>
                        </a:rPr>
                        <a:t>Muy Alto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-0.7231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-0.6791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-0.8441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-0.8210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-0.8290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2555380"/>
                  </a:ext>
                </a:extLst>
              </a:tr>
              <a:tr h="464296">
                <a:tc>
                  <a:txBody>
                    <a:bodyPr/>
                    <a:lstStyle/>
                    <a:p>
                      <a:pPr algn="l" fontAlgn="b"/>
                      <a:r>
                        <a:rPr lang="es-MX" sz="2000" b="0" i="1" u="none" strike="noStrike" dirty="0">
                          <a:effectLst/>
                        </a:rPr>
                        <a:t>Alto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-0.5245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-0.5339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-0.6632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-0.6077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-0.5852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4745942"/>
                  </a:ext>
                </a:extLst>
              </a:tr>
              <a:tr h="464296">
                <a:tc>
                  <a:txBody>
                    <a:bodyPr/>
                    <a:lstStyle/>
                    <a:p>
                      <a:pPr algn="l" fontAlgn="b"/>
                      <a:r>
                        <a:rPr lang="es-MX" sz="2000" b="0" i="1" u="none" strike="noStrike" dirty="0">
                          <a:effectLst/>
                        </a:rPr>
                        <a:t>Medio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-0.3496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-0.3122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-0.4120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-0.3406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-0.3124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4112728"/>
                  </a:ext>
                </a:extLst>
              </a:tr>
              <a:tr h="464296">
                <a:tc>
                  <a:txBody>
                    <a:bodyPr/>
                    <a:lstStyle/>
                    <a:p>
                      <a:pPr algn="l" fontAlgn="b"/>
                      <a:r>
                        <a:rPr lang="es-MX" sz="2000" b="0" i="1" u="none" strike="noStrike" dirty="0">
                          <a:effectLst/>
                        </a:rPr>
                        <a:t>Bajo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-0.1357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-0.0593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-0.1024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>
                          <a:effectLst/>
                        </a:rPr>
                        <a:t>0.0040</a:t>
                      </a:r>
                      <a:endParaRPr lang="es-MX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0.0090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6254558"/>
                  </a:ext>
                </a:extLst>
              </a:tr>
              <a:tr h="464296">
                <a:tc>
                  <a:txBody>
                    <a:bodyPr/>
                    <a:lstStyle/>
                    <a:p>
                      <a:pPr algn="l" fontAlgn="b"/>
                      <a:r>
                        <a:rPr lang="es-MX" sz="2000" b="0" i="1" u="none" strike="noStrike" dirty="0">
                          <a:effectLst/>
                        </a:rPr>
                        <a:t>Muy Bajo</a:t>
                      </a:r>
                      <a:endParaRPr lang="es-MX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-0.0146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0.1277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0.1256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0.2203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2000" b="0" u="none" strike="noStrike" dirty="0">
                          <a:effectLst/>
                        </a:rPr>
                        <a:t>0.1988</a:t>
                      </a:r>
                      <a:endParaRPr lang="es-MX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9899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674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0A56-98FB-434C-A4E9-EB999124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Metodología II</a:t>
            </a:r>
            <a:endParaRPr lang="es-MX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D5174-C443-485D-B0E0-0FD95AC93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518"/>
            <a:ext cx="10515600" cy="4351338"/>
          </a:xfrm>
        </p:spPr>
        <p:txBody>
          <a:bodyPr>
            <a:normAutofit/>
          </a:bodyPr>
          <a:lstStyle/>
          <a:p>
            <a:r>
              <a:rPr lang="es-MX" sz="2400" dirty="0"/>
              <a:t>Variable de respuesta continua (puntaje de matemáticas y lenguaje)  </a:t>
            </a:r>
          </a:p>
          <a:p>
            <a:r>
              <a:rPr lang="es-MX" sz="2400" dirty="0"/>
              <a:t>Se utilizaron tres tipos de modelos: LASSO, RIDGE, </a:t>
            </a:r>
            <a:r>
              <a:rPr lang="es-MX" sz="2400" dirty="0" err="1"/>
              <a:t>Elastic</a:t>
            </a:r>
            <a:r>
              <a:rPr lang="es-MX" sz="2400" dirty="0"/>
              <a:t> Net y LASSO en dos etapas. </a:t>
            </a:r>
          </a:p>
          <a:p>
            <a:r>
              <a:rPr lang="es-MX" sz="2400" dirty="0"/>
              <a:t>Todos los modelos surgen de una “regresión clásica con penalización”: </a:t>
            </a:r>
          </a:p>
          <a:p>
            <a:pPr lvl="1"/>
            <a:r>
              <a:rPr lang="es-MX" sz="1900" dirty="0"/>
              <a:t>Cuando existen pocas variables, el sesgo puede aumentar y, cuando existen muchas, las varianzas aumentan.</a:t>
            </a:r>
          </a:p>
          <a:p>
            <a:pPr marL="0" indent="0">
              <a:buNone/>
            </a:pP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9B6F6DB-B00C-4352-AA37-DA6812C14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831" y="3527071"/>
            <a:ext cx="4509126" cy="283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590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2BBD-E63D-491D-83DF-21EFDF39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Metodología: 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Least Absolute Shrinkage and Selection Operator (LASSO) </a:t>
            </a:r>
            <a:r>
              <a:rPr lang="en-US" b="0" i="0" dirty="0" err="1">
                <a:solidFill>
                  <a:schemeClr val="accent6">
                    <a:lumMod val="75000"/>
                  </a:schemeClr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en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 dos </a:t>
            </a:r>
            <a:r>
              <a:rPr lang="en-US" b="0" i="0" dirty="0" err="1">
                <a:solidFill>
                  <a:schemeClr val="accent6">
                    <a:lumMod val="75000"/>
                  </a:schemeClr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etapas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endParaRPr lang="es-MX" dirty="0">
              <a:solidFill>
                <a:schemeClr val="accent6">
                  <a:lumMod val="7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2523B-8A88-4992-A6D5-9C37FE454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608"/>
            <a:ext cx="10515600" cy="4351338"/>
          </a:xfrm>
        </p:spPr>
        <p:txBody>
          <a:bodyPr/>
          <a:lstStyle/>
          <a:p>
            <a:r>
              <a:rPr lang="es-MX" sz="2400" dirty="0"/>
              <a:t>Esta familia de modelos </a:t>
            </a:r>
            <a:r>
              <a:rPr lang="es-MX" sz="2400" i="1" dirty="0"/>
              <a:t>regulariza</a:t>
            </a:r>
            <a:r>
              <a:rPr lang="es-MX" sz="2400" dirty="0"/>
              <a:t> las variables. Reduce su número y con ello el error total del modelo  (con el costo de aumentar un poco el sesgo). </a:t>
            </a:r>
          </a:p>
          <a:p>
            <a:r>
              <a:rPr lang="es-MX" sz="2400" dirty="0"/>
              <a:t>Recursivamente penaliza las variables con más varianza y las hace cero y luego prueba si el modelo es bueno prediciendo.</a:t>
            </a:r>
          </a:p>
          <a:p>
            <a:r>
              <a:rPr lang="es-MX" sz="2400" dirty="0"/>
              <a:t>Se usa “Machine Learning” porque esa prueba se hace con los mismos datos de manera recursiva (</a:t>
            </a:r>
            <a:r>
              <a:rPr lang="es-MX" sz="2400" dirty="0" err="1"/>
              <a:t>cross-validation</a:t>
            </a:r>
            <a:r>
              <a:rPr lang="es-MX" sz="2400" dirty="0"/>
              <a:t>).</a:t>
            </a:r>
          </a:p>
          <a:p>
            <a:r>
              <a:rPr lang="es-MX" sz="2400" dirty="0"/>
              <a:t>Esto es adecuado si no buscamos el efecto insesgado (impacto) exacto, sino solamente identificar el grupo de variables que de manera </a:t>
            </a:r>
            <a:r>
              <a:rPr lang="es-MX" sz="2400" b="1" dirty="0"/>
              <a:t>más precisa o con menos error </a:t>
            </a:r>
            <a:r>
              <a:rPr lang="es-MX" sz="2400" dirty="0"/>
              <a:t>predicen resultados.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17566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BE70-A724-45E8-9087-2227A788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5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Resultados: ENLACE Matemáticas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48F2A-D5EE-4075-A9AA-8493C5857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08" y="1578769"/>
            <a:ext cx="10980828" cy="3299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F4E4AF-33AB-471F-8A62-EEF25100E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8152" y="5002297"/>
            <a:ext cx="11868151" cy="80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7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C406-3D2F-4D4A-A878-5C047BB8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Resultados: ENLACE Matemáticas</a:t>
            </a:r>
            <a:endParaRPr lang="es-MX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6F3583-51DA-4B3E-9DFF-26DADB60C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76425"/>
            <a:ext cx="11237276" cy="429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16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EF7C-DDAA-4900-935F-35E16229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Resultados: ENLACE Español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1797D-FF87-4945-BAA5-538F55F8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9492"/>
            <a:ext cx="12192000" cy="3484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C5925-57B9-4E7B-8530-45D87D4DC4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07"/>
          <a:stretch/>
        </p:blipFill>
        <p:spPr>
          <a:xfrm>
            <a:off x="0" y="5591175"/>
            <a:ext cx="12192000" cy="72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54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2A79-26CF-4299-93B9-FF4A6CB0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Resultados: ENLACE Español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09E99-3330-4C64-A190-232BC1943B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"/>
          <a:stretch/>
        </p:blipFill>
        <p:spPr>
          <a:xfrm>
            <a:off x="0" y="2067832"/>
            <a:ext cx="12039600" cy="354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86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1B27-6CEA-45BC-91BD-B16B7949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 PLANEA promedio estandarizado: contexto estudiante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DCF7B-032E-4167-80E6-4ED7A881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905" y="1476375"/>
            <a:ext cx="7140190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29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C364-BB0F-45FD-8406-B4F55AF2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 PLANEA promedio estandarizado: contexto estudiante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719D4-6FD3-472F-9113-28982A469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82" y="1600201"/>
            <a:ext cx="7203777" cy="507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47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AA4CC-2194-454D-9C0A-8B8B3E32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 PLANEA promedio estandarizado: contexto docente</a:t>
            </a:r>
            <a:endParaRPr lang="es-MX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B8B82E-A1DC-4586-AD21-2FC4EBE1D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5902" y="1690688"/>
            <a:ext cx="6900195" cy="4896913"/>
          </a:xfrm>
        </p:spPr>
      </p:pic>
    </p:spTree>
    <p:extLst>
      <p:ext uri="{BB962C8B-B14F-4D97-AF65-F5344CB8AC3E}">
        <p14:creationId xmlns:p14="http://schemas.microsoft.com/office/powerpoint/2010/main" val="2272333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721D-EDBC-457A-949B-B0FDCC2C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 PLANEA promedio estandarizado: creencias y prácticas docentes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FBC7D-FF0D-4898-A2E6-38FD7C618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624" y="1690688"/>
            <a:ext cx="6990422" cy="493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92EC-34C9-4D5B-ADE1-98C42105E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Resultados PLANEA promedio estandarizado: contexto escolar</a:t>
            </a:r>
            <a:endParaRPr lang="es-MX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F7931C-CFD6-416F-BA47-B63152513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43" y="1624013"/>
            <a:ext cx="7091907" cy="4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28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47A0-72F2-4431-BB8D-A037248BA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Conclusiones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EA3C-BD28-4E1D-ACC4-AD68F14CC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825625"/>
            <a:ext cx="10713720" cy="4351338"/>
          </a:xfrm>
        </p:spPr>
        <p:txBody>
          <a:bodyPr>
            <a:normAutofit/>
          </a:bodyPr>
          <a:lstStyle/>
          <a:p>
            <a:r>
              <a:rPr lang="es-MX" sz="2400" dirty="0"/>
              <a:t>LASSO nos permite elegir a través de ML un grupo de variables menor que predice de mejor manera resultados de español y matemáticas en niños de primaria.</a:t>
            </a:r>
          </a:p>
          <a:p>
            <a:r>
              <a:rPr lang="es-MX" sz="2400" dirty="0"/>
              <a:t>Las principales variables incluyen tres factores importantes y reconocidos en la literatura:</a:t>
            </a:r>
          </a:p>
          <a:p>
            <a:pPr lvl="1"/>
            <a:r>
              <a:rPr lang="es-MX" sz="2000" dirty="0"/>
              <a:t>Contexto del hogar:  educación de los padres (+), el trabajo infantil (-) , el uso de tecnología (-) y  las expectativas de los alumnos (+). </a:t>
            </a:r>
          </a:p>
          <a:p>
            <a:pPr lvl="1"/>
            <a:r>
              <a:rPr lang="es-MX" sz="2000" dirty="0"/>
              <a:t>Contexto del docente: educación universitaria (+), experiencia (+), carga de trabajo y no dedicación exclusiva (-) así como tiempo de traslado (-1).</a:t>
            </a:r>
          </a:p>
          <a:p>
            <a:pPr lvl="1"/>
            <a:r>
              <a:rPr lang="es-MX" sz="2000" dirty="0"/>
              <a:t>Practica y expectativas: contenido cubierto (+), expectativas sobre alumnos (+), prioriza investigación y pensamiento autónomo, utiliza distintos recursos aparte de libros SEP.</a:t>
            </a:r>
          </a:p>
          <a:p>
            <a:pPr lvl="1"/>
            <a:r>
              <a:rPr lang="es-MX" sz="2000" dirty="0"/>
              <a:t>Contexto escolar: tamaño de clase grande (-) ausentismo alumnos y docente, disciplina y violencia (-).</a:t>
            </a:r>
          </a:p>
          <a:p>
            <a:pPr lvl="1"/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3609040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8B48D-9DD3-40A7-BD92-14296E72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6">
                    <a:lumMod val="7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Posibles análisis a futuro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101B-56FF-48AE-8E4B-8EDFF124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Identificar adecuadamente en PLANEA 2018 maestro-alumno (grupo del docente no es reportado)</a:t>
            </a:r>
          </a:p>
          <a:p>
            <a:r>
              <a:rPr lang="es-MX" dirty="0"/>
              <a:t>Incluir resultados separados de español y matemáticas utilizando PLANEA.</a:t>
            </a:r>
          </a:p>
          <a:p>
            <a:r>
              <a:rPr lang="es-MX" dirty="0"/>
              <a:t>Incluir resultados para secundaria PLANEA 2015 / 2019.</a:t>
            </a:r>
          </a:p>
          <a:p>
            <a:r>
              <a:rPr lang="es-MX" dirty="0"/>
              <a:t>Construir un panel de alumnos para controlar variables no observables entre Primaria-Secundaria </a:t>
            </a:r>
            <a:r>
              <a:rPr lang="es-MX" dirty="0" err="1"/>
              <a:t>e.g</a:t>
            </a:r>
            <a:r>
              <a:rPr lang="es-MX" dirty="0"/>
              <a:t>. (2015-2018 y 2016-2019)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81599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5A53-02BA-4947-8042-FA35EBE1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6">
                    <a:lumMod val="75000"/>
                  </a:schemeClr>
                </a:solidFill>
              </a:rPr>
              <a:t>Comentarios: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2569-1F72-4810-8D97-D5B8E718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Dr. Francisco Cabrera</a:t>
            </a:r>
          </a:p>
          <a:p>
            <a:r>
              <a:rPr lang="es-MX" dirty="0"/>
              <a:t>Email: </a:t>
            </a:r>
            <a:r>
              <a:rPr lang="es-MX" dirty="0">
                <a:hlinkClick r:id="rId2"/>
              </a:rPr>
              <a:t>francisco.cabrera@udem.edu</a:t>
            </a:r>
            <a:endParaRPr lang="es-MX" dirty="0"/>
          </a:p>
          <a:p>
            <a:r>
              <a:rPr lang="es-MX" dirty="0"/>
              <a:t>Cel: 8130532310</a:t>
            </a:r>
          </a:p>
          <a:p>
            <a:r>
              <a:rPr lang="es-MX" dirty="0"/>
              <a:t>Departamento de Economía, Universidad de Monterrey, San Pedro Garza García, Nuevo León.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988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3312</TotalTime>
  <Words>1009</Words>
  <Application>Microsoft Office PowerPoint</Application>
  <PresentationFormat>Panorámica</PresentationFormat>
  <Paragraphs>123</Paragraphs>
  <Slides>22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Angsana New</vt:lpstr>
      <vt:lpstr>Aparajita</vt:lpstr>
      <vt:lpstr>Arial</vt:lpstr>
      <vt:lpstr>Calibri</vt:lpstr>
      <vt:lpstr>Calibri Light</vt:lpstr>
      <vt:lpstr>Office Theme</vt:lpstr>
      <vt:lpstr>Uso de Machine Learning para identificar variables predictoras de logro.</vt:lpstr>
      <vt:lpstr>Introducción</vt:lpstr>
      <vt:lpstr>Introducción</vt:lpstr>
      <vt:lpstr>Machine Learning</vt:lpstr>
      <vt:lpstr>Datos</vt:lpstr>
      <vt:lpstr>Metodología I</vt:lpstr>
      <vt:lpstr>Índices PCA: Apoyo parental por educación del padre.</vt:lpstr>
      <vt:lpstr>Índices PCA: Apoyo parental por nivel de marginación.</vt:lpstr>
      <vt:lpstr>Metodología II</vt:lpstr>
      <vt:lpstr>Metodología: Least Absolute Shrinkage and Selection Operator (LASSO) en dos etapas.</vt:lpstr>
      <vt:lpstr>Resultados: ENLACE Matemáticas</vt:lpstr>
      <vt:lpstr>Resultados: ENLACE Matemáticas</vt:lpstr>
      <vt:lpstr>Resultados: ENLACE Español</vt:lpstr>
      <vt:lpstr>Resultados: ENLACE Español</vt:lpstr>
      <vt:lpstr>Resultados PLANEA promedio estandarizado: contexto estudiante</vt:lpstr>
      <vt:lpstr>Resultados PLANEA promedio estandarizado: contexto estudiante</vt:lpstr>
      <vt:lpstr>Resultados PLANEA promedio estandarizado: contexto docente</vt:lpstr>
      <vt:lpstr>Resultados PLANEA promedio estandarizado: creencias y prácticas docentes</vt:lpstr>
      <vt:lpstr>Resultados PLANEA promedio estandarizado: contexto escolar</vt:lpstr>
      <vt:lpstr>Conclusiones</vt:lpstr>
      <vt:lpstr>Posibles análisis a futuro</vt:lpstr>
      <vt:lpstr>Comentarios: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Machine Learning para identificar variables predictoras de logro.</dc:title>
  <dc:creator>Francisco-Javier Cabrera</dc:creator>
  <cp:lastModifiedBy>Francisco-Javier Cabrera</cp:lastModifiedBy>
  <cp:revision>46</cp:revision>
  <dcterms:created xsi:type="dcterms:W3CDTF">2021-01-09T19:50:01Z</dcterms:created>
  <dcterms:modified xsi:type="dcterms:W3CDTF">2025-11-04T22:44:22Z</dcterms:modified>
</cp:coreProperties>
</file>